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อธิบายสามเรื่อง: ข้อมูลไหลอย่างไร เก็บอย่างไร และ AI ตัดสินใจอย่างไร โดยระบบเปิดใช้งานจริงแล้ว ไม่ใช่ต้นแบบบนกระดาษ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จุดที่อยากให้สังเกตคือกล่องกลาง ทุกอย่างที่เป็นความลับอยู่ฝั่งนั้น ถ้าเปิด source หน้าเว็บจะไม่เจอคีย์ใด ๆ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ขั้นที่ 4 สำคัญที่สุด ถ้า AI ล่มจะคืนค่าว่างแทนที่จะพังทั้งคำขอ ใบแจ้งซ่อมเข้าระบบทุกครั้ง ต่างกันแค่ช่อง AI ว่างให้เจ้าหน้าที่กรอกเอง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ผู้ใช้แตะจริงแค่ 3 จุด รูป อาคาร ห้อง ที่เหลือระบบเติมให้ และเราเก็บเวลาที่ใช้กรอกทุกใบเพื่อพิสูจน์ข้อนี้ด้วยข้อมูลจริง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จุดที่สำคัญที่สุดคือช่อง ai_suggested ที่เก็บคำทายดั้งเดิมของ AI แยกจากค่าที่เจ้าหน้าที่แก้ได้ ถ้าเก็บช่องเดียวการแก้ทับจะทำให้วัดความแม่นยำย้อนหลังไม่ได้เลย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เทคนิคนี้เรียกว่า structured output ทำให้ระบบไม่เปราะต่อการที่ AI ตอบเป็นประโยคยาว ๆ ที่แกะไม่ได้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ทุกฟิลด์เป็น required และสองฟิลด์ท้ายเป็น enum ทำให้ AI เลือกได้เฉพาะค่าที่ระบบรู้จัก ไม่มีทางคืนหมวดที่ไม่มีอยู่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ข้อนี้เป็นสิ่งที่ย้อนกลับไปทำทีหลังไม่ได้ ถ้าไม่ออกแบบไว้ตั้งแต่ต้น พอถึงวันสอบจะไม่มีข้อมูลมาตอบว่าตัวเลขมาจากไหน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บั๊กนี้เจอจากการยิงทดสอบของจริง ไม่ใช่จากการอ่านโค้ด เป็นตัวอย่างว่าทำไมต้องทดสอบระบบที่ deploy แล้ว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ข้อนี้อ้างอิงแนวปฏิบัติ ITIL 4 ที่โครงงานอ้างไว้ ระบบเดิมไม่มีกำหนดเวลาเลย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Realtime เป็นการแจ้งเหตุการณ์ ไม่ใช่แหล่งความจริง หน้าเว็บยังโหลดข้อมูลตั้งต้นจากฐานข้อมูลทุกครั้ง ถ้าเน็ตหลุดแล้วต่อกลับ การรีเฟรชยังให้ภาพที่ถูกต้อง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แต่ละเครื่องมือเลือกเพราะเหตุผลเฉพาะ ไม่ใช่เพราะเป็นของยอดนิยม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สามการตัดสินใจนี้คือสิ่งที่ทำให้ระบบต่างจากงานทั่วไป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8595360" y="-1463040"/>
            <a:ext cx="5029200" cy="5029200"/>
          </a:xfrm>
          <a:prstGeom prst="roundRect">
            <a:avLst>
              <a:gd name="adj" fmla="val 7273"/>
            </a:avLst>
          </a:prstGeom>
          <a:solidFill>
            <a:srgbClr val="0E7C86"/>
          </a:solidFill>
          <a:ln/>
        </p:spPr>
      </p:sp>
      <p:sp>
        <p:nvSpPr>
          <p:cNvPr id="3" name="Shape 1"/>
          <p:cNvSpPr/>
          <p:nvPr/>
        </p:nvSpPr>
        <p:spPr>
          <a:xfrm rot="1080000">
            <a:off x="9692640" y="3108960"/>
            <a:ext cx="4206240" cy="4206240"/>
          </a:xfrm>
          <a:prstGeom prst="roundRect">
            <a:avLst>
              <a:gd name="adj" fmla="val 8696"/>
            </a:avLst>
          </a:prstGeom>
          <a:solidFill>
            <a:srgbClr val="15B097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5544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5B09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TECHNICAL DEEP DIVE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1965960"/>
            <a:ext cx="10241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ระบบบริหารการซ่อมบำรุงด้วย AI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288036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9D8E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สถาปัตยกรรม · ฐานข้อมูล · ลอจิก AI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22960" y="3794760"/>
            <a:ext cx="2675534" cy="402336"/>
          </a:xfrm>
          <a:prstGeom prst="roundRect">
            <a:avLst>
              <a:gd name="adj" fmla="val 50000"/>
            </a:avLst>
          </a:prstGeom>
          <a:solidFill>
            <a:srgbClr val="17384F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794760"/>
            <a:ext cx="267553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FE3E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Next.js 16 · Server Actions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99662" y="3794760"/>
            <a:ext cx="3033979" cy="402336"/>
          </a:xfrm>
          <a:prstGeom prst="roundRect">
            <a:avLst>
              <a:gd name="adj" fmla="val 50000"/>
            </a:avLst>
          </a:prstGeom>
          <a:solidFill>
            <a:srgbClr val="17384F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99662" y="3794760"/>
            <a:ext cx="303397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FE3E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PostgreSQL · Row Level Security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934810" y="3794760"/>
            <a:ext cx="2944368" cy="402336"/>
          </a:xfrm>
          <a:prstGeom prst="roundRect">
            <a:avLst>
              <a:gd name="adj" fmla="val 50000"/>
            </a:avLst>
          </a:prstGeom>
          <a:solidFill>
            <a:srgbClr val="17384F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34810" y="3794760"/>
            <a:ext cx="29443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FE3E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Vision LLM · Structured Output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0080346" y="3794760"/>
            <a:ext cx="972922" cy="402336"/>
          </a:xfrm>
          <a:prstGeom prst="roundRect">
            <a:avLst>
              <a:gd name="adj" fmla="val 50000"/>
            </a:avLst>
          </a:prstGeom>
          <a:solidFill>
            <a:srgbClr val="17384F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80346" y="3794760"/>
            <a:ext cx="97292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FE3E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Realtime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2960" y="58978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C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ระบบใช้งานจริงแล้วที่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ai-tool-fix-two.vercel.app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21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ภาพรวมระบบ — ใครคุยกับใคร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286000" cy="914400"/>
          </a:xfrm>
          <a:prstGeom prst="roundRect">
            <a:avLst>
              <a:gd name="adj" fmla="val 9000"/>
            </a:avLst>
          </a:prstGeom>
          <a:solidFill>
            <a:srgbClr val="F1F6F8"/>
          </a:solidFill>
          <a:ln w="12700">
            <a:solidFill>
              <a:srgbClr val="D3DE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2011680"/>
            <a:ext cx="21396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321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ผู้แจ้ง (มือถือ)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C6B7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ไม่ต้องล็อกอิน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4023360"/>
            <a:ext cx="2286000" cy="914400"/>
          </a:xfrm>
          <a:prstGeom prst="roundRect">
            <a:avLst>
              <a:gd name="adj" fmla="val 9000"/>
            </a:avLst>
          </a:prstGeom>
          <a:solidFill>
            <a:srgbClr val="F1F6F8"/>
          </a:solidFill>
          <a:ln w="12700">
            <a:solidFill>
              <a:srgbClr val="D3DE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4023360"/>
            <a:ext cx="21396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321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เจ้าหน้าที่ (คอม)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C6B7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ล็อกอินก่อน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09160" y="2788920"/>
            <a:ext cx="2743200" cy="1371600"/>
          </a:xfrm>
          <a:prstGeom prst="roundRect">
            <a:avLst>
              <a:gd name="adj" fmla="val 6000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4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82312" y="2788920"/>
            <a:ext cx="259689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Next.js Server</a:t>
            </a:r>
            <a:endParaRPr lang="en-US" sz="15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C6B7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Server Actions · คีย์อยู่ฝั่งนี้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9235440" y="1600200"/>
            <a:ext cx="246888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3DE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08592" y="1600200"/>
            <a:ext cx="23225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321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Storage (private)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C6B7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รูป · signed URL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235440" y="3017520"/>
            <a:ext cx="246888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3DE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08592" y="3017520"/>
            <a:ext cx="23225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321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Vision LLM API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C6B7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วิเคราะห์ภาพ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235440" y="4434840"/>
            <a:ext cx="2468880" cy="1051560"/>
          </a:xfrm>
          <a:prstGeom prst="roundRect">
            <a:avLst>
              <a:gd name="adj" fmla="val 7826"/>
            </a:avLst>
          </a:prstGeom>
          <a:solidFill>
            <a:srgbClr val="0F2A43"/>
          </a:solidFill>
          <a:ln w="12700">
            <a:solidFill>
              <a:srgbClr val="0F2A43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4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308592" y="4434840"/>
            <a:ext cx="232257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PostgreSQL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C6B7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6 ตาราง · RLS · Realtime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834640" y="2468880"/>
            <a:ext cx="1828800" cy="594360"/>
          </a:xfrm>
          <a:prstGeom prst="line">
            <a:avLst/>
          </a:prstGeom>
          <a:noFill/>
          <a:ln w="19050">
            <a:solidFill>
              <a:srgbClr val="5C6B7A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2834640" y="4480560"/>
            <a:ext cx="1828800" cy="-594360"/>
          </a:xfrm>
          <a:prstGeom prst="line">
            <a:avLst/>
          </a:prstGeom>
          <a:noFill/>
          <a:ln w="19050">
            <a:solidFill>
              <a:srgbClr val="5C6B7A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452360" y="3200400"/>
            <a:ext cx="1737360" cy="-1051560"/>
          </a:xfrm>
          <a:prstGeom prst="line">
            <a:avLst/>
          </a:prstGeom>
          <a:noFill/>
          <a:ln w="19050">
            <a:solidFill>
              <a:srgbClr val="5C6B7A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452360" y="3474720"/>
            <a:ext cx="1737360" cy="0"/>
          </a:xfrm>
          <a:prstGeom prst="line">
            <a:avLst/>
          </a:prstGeom>
          <a:noFill/>
          <a:ln w="19050">
            <a:solidFill>
              <a:srgbClr val="5C6B7A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452360" y="3794760"/>
            <a:ext cx="1737360" cy="914400"/>
          </a:xfrm>
          <a:prstGeom prst="line">
            <a:avLst/>
          </a:prstGeom>
          <a:noFill/>
          <a:ln w="19050">
            <a:solidFill>
              <a:srgbClr val="5C6B7A"/>
            </a:solidFill>
            <a:prstDash val="solid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3017520" y="23317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รูป + ห้อง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017520" y="43434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อ่าน / อัปเดต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 flipV="1">
            <a:off x="1828800" y="5029200"/>
            <a:ext cx="8595360" cy="777240"/>
          </a:xfrm>
          <a:prstGeom prst="line">
            <a:avLst/>
          </a:prstGeom>
          <a:noFill/>
          <a:ln w="28575">
            <a:solidFill>
              <a:srgbClr val="15B097"/>
            </a:solidFill>
            <a:prstDash val="dash"/>
            <a:headEnd type="triangle"/>
          </a:ln>
        </p:spPr>
      </p:sp>
      <p:sp>
        <p:nvSpPr>
          <p:cNvPr id="24" name="Text 22"/>
          <p:cNvSpPr/>
          <p:nvPr/>
        </p:nvSpPr>
        <p:spPr>
          <a:xfrm>
            <a:off x="3108960" y="58064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B09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Realtime — ทุกจอเปลี่ยนพร้อมกันโดยไม่ต้องรีเฟรช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8640" y="63550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6B7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จุดสำคัญ: เบราว์เซอร์ไม่เคยคุยกับ Vision API ตรง ๆ — คีย์อยู่ฝั่งเซิร์ฟเวอร์เท่านั้น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DATA FLOW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21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เส้นทางข้อมูล 1 ใบแจ้งซ่อม ตั้งแต่กดส่งถึงขึ้นจอช่าง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1440" y="16916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1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ผู้แจ้ง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097280" y="2011680"/>
            <a:ext cx="0" cy="4206240"/>
          </a:xfrm>
          <a:prstGeom prst="line">
            <a:avLst/>
          </a:prstGeom>
          <a:noFill/>
          <a:ln w="12700">
            <a:solidFill>
              <a:srgbClr val="D3DE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60320" y="16916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1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Server Action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566160" y="2011680"/>
            <a:ext cx="0" cy="4206240"/>
          </a:xfrm>
          <a:prstGeom prst="line">
            <a:avLst/>
          </a:prstGeom>
          <a:noFill/>
          <a:ln w="12700">
            <a:solidFill>
              <a:srgbClr val="D3DE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0" y="16916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1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Storage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35040" y="2011680"/>
            <a:ext cx="0" cy="4206240"/>
          </a:xfrm>
          <a:prstGeom prst="line">
            <a:avLst/>
          </a:prstGeom>
          <a:noFill/>
          <a:ln w="12700">
            <a:solidFill>
              <a:srgbClr val="D3DE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223760" y="16916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1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Vision API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229600" y="2011680"/>
            <a:ext cx="0" cy="4206240"/>
          </a:xfrm>
          <a:prstGeom prst="line">
            <a:avLst/>
          </a:prstGeom>
          <a:noFill/>
          <a:ln w="12700">
            <a:solidFill>
              <a:srgbClr val="D3DE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92640" y="16916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1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Postgres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698480" y="2011680"/>
            <a:ext cx="0" cy="4206240"/>
          </a:xfrm>
          <a:prstGeom prst="line">
            <a:avLst/>
          </a:prstGeom>
          <a:noFill/>
          <a:ln w="12700">
            <a:solidFill>
              <a:srgbClr val="D3DEE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97280" y="2331720"/>
            <a:ext cx="2468880" cy="0"/>
          </a:xfrm>
          <a:prstGeom prst="line">
            <a:avLst/>
          </a:prstGeom>
          <a:noFill/>
          <a:ln w="19050">
            <a:solidFill>
              <a:srgbClr val="5C6B7A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1188720" y="194767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321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 · รูป + อาคาร/ห้อง + เวลาที่ใช้กรอก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566160" y="2880360"/>
            <a:ext cx="2468880" cy="0"/>
          </a:xfrm>
          <a:prstGeom prst="line">
            <a:avLst/>
          </a:prstGeom>
          <a:noFill/>
          <a:ln w="19050">
            <a:solidFill>
              <a:srgbClr val="5C6B7A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3657600" y="249631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321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 · อัปโหลดเข้า bucket ปิด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566160" y="3429000"/>
            <a:ext cx="4663440" cy="0"/>
          </a:xfrm>
          <a:prstGeom prst="line">
            <a:avLst/>
          </a:prstGeom>
          <a:noFill/>
          <a:ln w="19050">
            <a:solidFill>
              <a:srgbClr val="5C6B7A"/>
            </a:solidFill>
            <a:prstDash val="solid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3657600" y="304495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321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 · ส่ง base64 + บังคับรูปแบบคำตอบ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229600" y="3977640"/>
            <a:ext cx="-4663440" cy="0"/>
          </a:xfrm>
          <a:prstGeom prst="line">
            <a:avLst/>
          </a:prstGeom>
          <a:noFill/>
          <a:ln w="19050">
            <a:solidFill>
              <a:srgbClr val="5C6B7A"/>
            </a:solidFill>
            <a:prstDash val="solid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3657600" y="359359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321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 · JSON: อุปกรณ์ · อาการ · หมวด · ความด่วน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566160" y="4892040"/>
            <a:ext cx="7132320" cy="0"/>
          </a:xfrm>
          <a:prstGeom prst="line">
            <a:avLst/>
          </a:prstGeom>
          <a:noFill/>
          <a:ln w="19050">
            <a:solidFill>
              <a:srgbClr val="5C6B7A"/>
            </a:solidFill>
            <a:prstDash val="solid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3657600" y="4507992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321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 · insert 1 แถว (พร้อมรหัสติดตาม 6 หลัก)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0698480" y="5989320"/>
            <a:ext cx="-9601200" cy="0"/>
          </a:xfrm>
          <a:prstGeom prst="line">
            <a:avLst/>
          </a:prstGeom>
          <a:noFill/>
          <a:ln w="19050">
            <a:solidFill>
              <a:srgbClr val="15B097"/>
            </a:solidFill>
            <a:prstDash val="solid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1188720" y="5605272"/>
            <a:ext cx="9418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B09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7 · Realtime → การ์ดเด้งขึ้นจอช่าง + toast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9692640" y="5349240"/>
            <a:ext cx="2103120" cy="5486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3DEE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692640" y="5349240"/>
            <a:ext cx="210312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6 · Trigger เขียนประวัติสถานะอัตโนมัติ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572000" y="4114800"/>
            <a:ext cx="3200400" cy="457200"/>
          </a:xfrm>
          <a:prstGeom prst="roundRect">
            <a:avLst>
              <a:gd name="adj" fmla="val 18000"/>
            </a:avLst>
          </a:prstGeom>
          <a:solidFill>
            <a:srgbClr val="FBF3E7"/>
          </a:solidFill>
          <a:ln w="12700">
            <a:solidFill>
              <a:srgbClr val="C6751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0" y="41148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6751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ล้มเหลว → คืน null (ไม่ throw)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48640" y="64008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6B7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ขั้นที่ 4 เป็นหัวใจของความทนทาน: ถ้า AI ล่ม ฟังก์ชันคืนค่าว่างแทนที่จะโยน error ขั้น 5 จึงยังทำงาน — ใบแจ้งซ่อมเข้าระบบทุกครั้ง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INPUT · PROCESS · OUTPUT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21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อะไรเข้า อะไรเกิดขึ้น อะไรออก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697480" cy="3931920"/>
          </a:xfrm>
          <a:prstGeom prst="roundRect">
            <a:avLst>
              <a:gd name="adj" fmla="val 3051"/>
            </a:avLst>
          </a:prstGeom>
          <a:solidFill>
            <a:srgbClr val="F1F6F8"/>
          </a:solidFill>
          <a:ln w="12700">
            <a:solidFill>
              <a:srgbClr val="D3DE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4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148840"/>
            <a:ext cx="914400" cy="457200"/>
          </a:xfrm>
          <a:prstGeom prst="roundRect">
            <a:avLst>
              <a:gd name="adj" fmla="val 50000"/>
            </a:avLst>
          </a:prstGeom>
          <a:solidFill>
            <a:srgbClr val="0E7C86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1488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Input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2788920"/>
            <a:ext cx="22402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321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รูปถ่าย JPEG/PNG/WEBP</a:t>
            </a:r>
            <a:endParaRPr lang="en-US" sz="12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321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อาคาร + ห้อง (เลือกจากรายการ)</a:t>
            </a:r>
            <a:endParaRPr lang="en-US" sz="12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321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ประเภทงาน (ไม่บังคับ)</a:t>
            </a:r>
            <a:endParaRPr lang="en-US" sz="12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321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ชื่อ + เบอร์ (ไม่บังคับ)</a:t>
            </a:r>
            <a:endParaRPr lang="en-US" sz="12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321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เวลาที่ใช้กรอก (จับอัตโนมัติ)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64992" y="1920240"/>
            <a:ext cx="2697480" cy="3931920"/>
          </a:xfrm>
          <a:prstGeom prst="roundRect">
            <a:avLst>
              <a:gd name="adj" fmla="val 3051"/>
            </a:avLst>
          </a:prstGeom>
          <a:solidFill>
            <a:srgbClr val="F1F6F8"/>
          </a:solidFill>
          <a:ln w="12700">
            <a:solidFill>
              <a:srgbClr val="D3DE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4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593592" y="2148840"/>
            <a:ext cx="914400" cy="457200"/>
          </a:xfrm>
          <a:prstGeom prst="roundRect">
            <a:avLst>
              <a:gd name="adj" fmla="val 50000"/>
            </a:avLst>
          </a:prstGeom>
          <a:solidFill>
            <a:srgbClr val="15B097"/>
          </a:solidFill>
          <a:ln/>
        </p:spPr>
      </p:sp>
      <p:sp>
        <p:nvSpPr>
          <p:cNvPr id="10" name="Text 8"/>
          <p:cNvSpPr/>
          <p:nvPr/>
        </p:nvSpPr>
        <p:spPr>
          <a:xfrm>
            <a:off x="3593592" y="21488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Process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593592" y="2788920"/>
            <a:ext cx="22402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321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ตรวจชนิดไฟล์และขนาด</a:t>
            </a:r>
            <a:endParaRPr lang="en-US" sz="12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321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ย่อรูปในเครื่องก่อนส่ง</a:t>
            </a:r>
            <a:endParaRPr lang="en-US" sz="12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321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AI จำแนก 5 หมวด + 4 ระดับ</a:t>
            </a:r>
            <a:endParaRPr lang="en-US" sz="12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321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ออกรหัสติดตาม (กันชนกัน)</a:t>
            </a:r>
            <a:endParaRPr lang="en-US" sz="12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321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คำนวณกำหนด SLA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81344" y="1920240"/>
            <a:ext cx="2697480" cy="3931920"/>
          </a:xfrm>
          <a:prstGeom prst="roundRect">
            <a:avLst>
              <a:gd name="adj" fmla="val 3051"/>
            </a:avLst>
          </a:prstGeom>
          <a:solidFill>
            <a:srgbClr val="F1F6F8"/>
          </a:solidFill>
          <a:ln w="12700">
            <a:solidFill>
              <a:srgbClr val="D3DE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4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9944" y="2148840"/>
            <a:ext cx="914400" cy="457200"/>
          </a:xfrm>
          <a:prstGeom prst="roundRect">
            <a:avLst>
              <a:gd name="adj" fmla="val 50000"/>
            </a:avLst>
          </a:prstGeom>
          <a:solidFill>
            <a:srgbClr val="C67512"/>
          </a:solidFill>
          <a:ln/>
        </p:spPr>
      </p:sp>
      <p:sp>
        <p:nvSpPr>
          <p:cNvPr id="14" name="Text 12"/>
          <p:cNvSpPr/>
          <p:nvPr/>
        </p:nvSpPr>
        <p:spPr>
          <a:xfrm>
            <a:off x="6409944" y="21488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Output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9944" y="2788920"/>
            <a:ext cx="22402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321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 แถวใน reports</a:t>
            </a:r>
            <a:endParaRPr lang="en-US" sz="12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321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ประวัติสถานะ (จาก trigger)</a:t>
            </a:r>
            <a:endParaRPr lang="en-US" sz="12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321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รหัสติดตามคืนผู้แจ้ง</a:t>
            </a:r>
            <a:endParaRPr lang="en-US" sz="12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321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คำทาย AI 2 ชุด: แช่แข็ง + แก้ได้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997696" y="1920240"/>
            <a:ext cx="2697480" cy="3931920"/>
          </a:xfrm>
          <a:prstGeom prst="roundRect">
            <a:avLst>
              <a:gd name="adj" fmla="val 3051"/>
            </a:avLst>
          </a:prstGeom>
          <a:solidFill>
            <a:srgbClr val="F1F6F8"/>
          </a:solidFill>
          <a:ln w="12700">
            <a:solidFill>
              <a:srgbClr val="D3DE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4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226296" y="2148840"/>
            <a:ext cx="914400" cy="457200"/>
          </a:xfrm>
          <a:prstGeom prst="roundRect">
            <a:avLst>
              <a:gd name="adj" fmla="val 50000"/>
            </a:avLst>
          </a:prstGeom>
          <a:solidFill>
            <a:srgbClr val="0F2A43"/>
          </a:solidFill>
          <a:ln/>
        </p:spPr>
      </p:sp>
      <p:sp>
        <p:nvSpPr>
          <p:cNvPr id="18" name="Text 16"/>
          <p:cNvSpPr/>
          <p:nvPr/>
        </p:nvSpPr>
        <p:spPr>
          <a:xfrm>
            <a:off x="9226296" y="21488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Display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226296" y="2788920"/>
            <a:ext cx="22402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321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บอร์ด 2 ฝั่ง เรียงตามความด่วน</a:t>
            </a:r>
            <a:endParaRPr lang="en-US" sz="12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321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ป้ายนับถอยหลัง SLA</a:t>
            </a:r>
            <a:endParaRPr lang="en-US" sz="12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321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Kanban · Timeline · Heatmap</a:t>
            </a:r>
            <a:endParaRPr lang="en-US" sz="12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321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สรุปวัน/เดือน/ปี + ส่งออก CSV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60807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C6B7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ผู้ใช้แตะจริงแค่ 3 จุด (รูป → อาคาร → ห้อง) ที่เหลือระบบเติมให้ — เก็บ "เวลาที่ใช้กรอก" ทุกใบเพื่อพิสูจน์ด้วยข้อมูลจริง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DATABASE SCHEMA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21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โครงสร้างฐานข้อมูล — 6 ตาราง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468880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2700">
            <a:solidFill>
              <a:srgbClr val="D3DE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1920240"/>
            <a:ext cx="23225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321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buildings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C6B7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อาคารทั้งหมด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880360"/>
            <a:ext cx="246888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D3DE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2880360"/>
            <a:ext cx="23225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321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rooms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C6B7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unique(building_id, name)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977640"/>
            <a:ext cx="246888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3DE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3977640"/>
            <a:ext cx="23225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321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service_types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C6B7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รหัสตรงระบบเดิม 1:1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023360" y="1965960"/>
            <a:ext cx="3840480" cy="2926080"/>
          </a:xfrm>
          <a:prstGeom prst="roundRect">
            <a:avLst>
              <a:gd name="adj" fmla="val 2813"/>
            </a:avLst>
          </a:prstGeom>
          <a:solidFill>
            <a:srgbClr val="F1F6F8"/>
          </a:solidFill>
          <a:ln w="12700">
            <a:solidFill>
              <a:srgbClr val="0E7C8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4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206240" y="21031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1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reports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206240" y="2514600"/>
            <a:ext cx="35204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6B7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tracking_code (unique)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6B7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photo_path · status · urgency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6B7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service_type_id · assigned_to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5B09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ai_suggested_*  (แช่แข็ง)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6B7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ai_confidence · submit_seconds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6B7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satisfaction_rating · rated_at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6B7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created_at · resolved_at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6B7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contact_phone · reporter_name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961120" y="2148840"/>
            <a:ext cx="2743200" cy="868680"/>
          </a:xfrm>
          <a:prstGeom prst="roundRect">
            <a:avLst>
              <a:gd name="adj" fmla="val 9474"/>
            </a:avLst>
          </a:prstGeom>
          <a:solidFill>
            <a:srgbClr val="0F2A43"/>
          </a:solidFill>
          <a:ln w="12700">
            <a:solidFill>
              <a:srgbClr val="0F2A4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34272" y="2148840"/>
            <a:ext cx="25968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staff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C6B7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ด่านสิทธิ์ทั้งระบบ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961120" y="3794760"/>
            <a:ext cx="274320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D3DE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034272" y="3794760"/>
            <a:ext cx="25968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321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report_status_history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C6B7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เขียนด้วย trigger เท่านั้น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017520" y="2286000"/>
            <a:ext cx="960120" cy="365760"/>
          </a:xfrm>
          <a:prstGeom prst="line">
            <a:avLst/>
          </a:prstGeom>
          <a:noFill/>
          <a:ln w="19050">
            <a:solidFill>
              <a:srgbClr val="5C6B7A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3017520" y="3291840"/>
            <a:ext cx="960120" cy="0"/>
          </a:xfrm>
          <a:prstGeom prst="line">
            <a:avLst/>
          </a:prstGeom>
          <a:noFill/>
          <a:ln w="19050">
            <a:solidFill>
              <a:srgbClr val="5C6B7A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3017520" y="4343400"/>
            <a:ext cx="960120" cy="-320040"/>
          </a:xfrm>
          <a:prstGeom prst="line">
            <a:avLst/>
          </a:prstGeom>
          <a:noFill/>
          <a:ln w="19050">
            <a:solidFill>
              <a:srgbClr val="5C6B7A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863840" y="2834640"/>
            <a:ext cx="1051560" cy="-228600"/>
          </a:xfrm>
          <a:prstGeom prst="line">
            <a:avLst/>
          </a:prstGeom>
          <a:noFill/>
          <a:ln w="19050">
            <a:solidFill>
              <a:srgbClr val="5C6B7A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863840" y="4023360"/>
            <a:ext cx="1051560" cy="182880"/>
          </a:xfrm>
          <a:prstGeom prst="line">
            <a:avLst/>
          </a:prstGeom>
          <a:noFill/>
          <a:ln w="19050">
            <a:solidFill>
              <a:srgbClr val="5C6B7A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1783080" y="2697480"/>
            <a:ext cx="0" cy="182880"/>
          </a:xfrm>
          <a:prstGeom prst="line">
            <a:avLst/>
          </a:prstGeom>
          <a:noFill/>
          <a:ln w="19050">
            <a:solidFill>
              <a:srgbClr val="5C6B7A"/>
            </a:solidFill>
            <a:prstDash val="solid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3063240" y="23317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 : N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063240" y="3017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 : N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063240" y="4114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 : N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48640" y="59893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C6B7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จุดสำคัญที่สุด: ช่องสีเขียว ai_suggested_* เก็บคำทายเดิมของ AI แยกจากค่าที่เจ้าหน้าที่แก้ได้ — ถ้าเก็บช่องเดียว วัดความแม่นยำย้อนหลังไม่ได้เลย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AI LOGIC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21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AI ตัดสินใจอย่างไร และบังคับให้ตอบเป็นโครงสร้างได้อย่างไร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3063240"/>
            <a:ext cx="2011680" cy="914400"/>
          </a:xfrm>
          <a:prstGeom prst="roundRect">
            <a:avLst>
              <a:gd name="adj" fmla="val 9000"/>
            </a:avLst>
          </a:prstGeom>
          <a:solidFill>
            <a:srgbClr val="F1F6F8"/>
          </a:solidFill>
          <a:ln w="12700">
            <a:solidFill>
              <a:srgbClr val="D3DE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3063240"/>
            <a:ext cx="18653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321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รูปถ่าย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C6B7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base64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063240" y="2880360"/>
            <a:ext cx="2377440" cy="1280160"/>
          </a:xfrm>
          <a:prstGeom prst="roundRect">
            <a:avLst>
              <a:gd name="adj" fmla="val 6429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4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136392" y="2880360"/>
            <a:ext cx="223113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Vision LLM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C6B7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tool_choice บังคับ · ตอบ JSON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26480" y="1645920"/>
            <a:ext cx="2651760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3DE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99632" y="1645920"/>
            <a:ext cx="250545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321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ตรวจค่าที่ได้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C6B7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หมวด 1–5 · มั่นใจ 0–1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26480" y="4297680"/>
            <a:ext cx="2651760" cy="1097280"/>
          </a:xfrm>
          <a:prstGeom prst="roundRect">
            <a:avLst>
              <a:gd name="adj" fmla="val 7500"/>
            </a:avLst>
          </a:prstGeom>
          <a:solidFill>
            <a:srgbClr val="FBF3E7"/>
          </a:solidFill>
          <a:ln w="12700">
            <a:solidFill>
              <a:srgbClr val="C6751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99632" y="4297680"/>
            <a:ext cx="250545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C6751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ล้ม / ไม่มีคีย์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C6B7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คืน null · เขียน log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235440" y="1645920"/>
            <a:ext cx="2560320" cy="1097280"/>
          </a:xfrm>
          <a:prstGeom prst="roundRect">
            <a:avLst>
              <a:gd name="adj" fmla="val 7500"/>
            </a:avLst>
          </a:prstGeom>
          <a:solidFill>
            <a:srgbClr val="15B097"/>
          </a:solidFill>
          <a:ln w="12700">
            <a:solidFill>
              <a:srgbClr val="15B097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4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308592" y="1645920"/>
            <a:ext cx="24140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เก็บ 2 ชุด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C6B7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แช่แข็ง + แก้ได้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235440" y="4297680"/>
            <a:ext cx="2560320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3DE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08592" y="4297680"/>
            <a:ext cx="24140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321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ใบยังถูกสร้าง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C6B7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เจ้าหน้าที่จัดหมวดเอง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560320" y="3520440"/>
            <a:ext cx="457200" cy="0"/>
          </a:xfrm>
          <a:prstGeom prst="line">
            <a:avLst/>
          </a:prstGeom>
          <a:noFill/>
          <a:ln w="19050">
            <a:solidFill>
              <a:srgbClr val="5C6B7A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440680" y="3200400"/>
            <a:ext cx="640080" cy="-822960"/>
          </a:xfrm>
          <a:prstGeom prst="line">
            <a:avLst/>
          </a:prstGeom>
          <a:noFill/>
          <a:ln w="19050">
            <a:solidFill>
              <a:srgbClr val="15B097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440680" y="3840480"/>
            <a:ext cx="640080" cy="822960"/>
          </a:xfrm>
          <a:prstGeom prst="line">
            <a:avLst/>
          </a:prstGeom>
          <a:noFill/>
          <a:ln w="19050">
            <a:solidFill>
              <a:srgbClr val="C67512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8778240" y="2194560"/>
            <a:ext cx="411480" cy="0"/>
          </a:xfrm>
          <a:prstGeom prst="line">
            <a:avLst/>
          </a:prstGeom>
          <a:noFill/>
          <a:ln w="19050">
            <a:solidFill>
              <a:srgbClr val="5C6B7A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778240" y="4846320"/>
            <a:ext cx="411480" cy="0"/>
          </a:xfrm>
          <a:prstGeom prst="line">
            <a:avLst/>
          </a:prstGeom>
          <a:noFill/>
          <a:ln w="19050">
            <a:solidFill>
              <a:srgbClr val="5C6B7A"/>
            </a:solidFill>
            <a:prstDash val="solid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5532120" y="25146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5B09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สำเร็จ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532120" y="4160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751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ล้มเหลว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C6B7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ไม่ขอให้ AI เขียนบรรยายแล้วมาแกะข้อความ — ประกาศ schema ของเครื่องมือล่วงหน้า บังคับให้เรียก แล้วตรวจซ้ำในโค้ดก่อนเชื่อ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AI LOGIC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21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สัญญาระหว่างโค้ดกับ AI (Tool Schema)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303520" cy="2468880"/>
          </a:xfrm>
          <a:prstGeom prst="roundRect">
            <a:avLst>
              <a:gd name="adj" fmla="val 3333"/>
            </a:avLst>
          </a:prstGeom>
          <a:solidFill>
            <a:srgbClr val="12222E"/>
          </a:solidFill>
          <a:ln w="12700">
            <a:solidFill>
              <a:srgbClr val="1222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148840"/>
            <a:ext cx="49377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B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
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8FE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equipmentType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0B8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"เครื่องปรับอากาศ",
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8FE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description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0B8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  "มีน้ำรั่วซึมที่หน้ากากแอร์",
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8FE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confidence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B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   0.92,        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7F93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0-1
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8FE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serviceTypeId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B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3,           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7F93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enum 1-5
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8FE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urgency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0B8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      "high"      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7F93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4 ระดับ
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B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457200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ทุกฟิลด์ required · สองฟิลด์ท้ายเป็น enum — AI เลือกได้เฉพาะค่าที่ระบบรู้จัก ไม่มีทางคืนหมวดที่ไม่มีอยู่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126480" y="1965960"/>
            <a:ext cx="5486400" cy="1298448"/>
          </a:xfrm>
          <a:prstGeom prst="roundRect">
            <a:avLst>
              <a:gd name="adj" fmla="val 6338"/>
            </a:avLst>
          </a:prstGeom>
          <a:solidFill>
            <a:srgbClr val="F1F6F8"/>
          </a:solidFill>
          <a:ln w="12700">
            <a:solidFill>
              <a:srgbClr val="D3DE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55080" y="2093976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1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การจำแนกหมวด (5 ประเภท)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355080" y="2468880"/>
            <a:ext cx="5074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สุขาภิบาล · ไฟฟ้า · เครื่องปรับอากาศ · อาคาร · ครุภัณฑ์สำนักงาน — สคีมาบอกตัวอย่างแต่ละหมวดให้ AI เทียบ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26480" y="3383280"/>
            <a:ext cx="5486400" cy="1298448"/>
          </a:xfrm>
          <a:prstGeom prst="roundRect">
            <a:avLst>
              <a:gd name="adj" fmla="val 6338"/>
            </a:avLst>
          </a:prstGeom>
          <a:solidFill>
            <a:srgbClr val="F1F6F8"/>
          </a:solidFill>
          <a:ln w="12700">
            <a:solidFill>
              <a:srgbClr val="D3DE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55080" y="3511296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1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เกณฑ์ความเร่งด่วน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355080" y="3886200"/>
            <a:ext cx="5074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critical อันตราย/วงกว้าง · high ใช้ไม่ได้เลย · medium ใช้ได้บางส่วน · low เสียหายเล็กน้อย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4800600"/>
            <a:ext cx="5486400" cy="1298448"/>
          </a:xfrm>
          <a:prstGeom prst="roundRect">
            <a:avLst>
              <a:gd name="adj" fmla="val 6338"/>
            </a:avLst>
          </a:prstGeom>
          <a:solidFill>
            <a:srgbClr val="F1F6F8"/>
          </a:solidFill>
          <a:ln w="12700">
            <a:solidFill>
              <a:srgbClr val="D3DE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4928616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1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ตรวจซ้ำในโค้ด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55080" y="5303520"/>
            <a:ext cx="5074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ชนิดข้อมูลถูก · หมวด 1-5 · ความมั่นใจ 0-1 · ไม่ผ่าน = ทิ้งเป็น null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MEASUREMENT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21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วัดความแม่นยำของ AI ได้อย่างไร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874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034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ออกแบบเดิม — วัดไม่ได้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246888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B034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2286000"/>
            <a:ext cx="23225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321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AI ทาย: หมวด 2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C6B7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urgency = high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206240" y="2286000"/>
            <a:ext cx="246888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B034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79392" y="2286000"/>
            <a:ext cx="23225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321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หมวด 3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C6B7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urgency = medium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017520" y="2715768"/>
            <a:ext cx="1143000" cy="0"/>
          </a:xfrm>
          <a:prstGeom prst="line">
            <a:avLst/>
          </a:prstGeom>
          <a:noFill/>
          <a:ln w="19050">
            <a:solidFill>
              <a:srgbClr val="B0342A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2880360" y="28346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34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เจ้าหน้าที่แก้ทับช่องเดิม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949440" y="2514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034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คำทายเดิมหายถาวร → เทียบไม่ได้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48640" y="3794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B09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ออกแบบที่ใช้จริง — วัดได้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206240"/>
            <a:ext cx="246888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15B09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" y="4206240"/>
            <a:ext cx="23225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321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ai_suggested_*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C6B7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เขียนครั้งเดียว ห้ามแก้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206240" y="4206240"/>
            <a:ext cx="246888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15B09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79392" y="4206240"/>
            <a:ext cx="23225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321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ค่าใช้งานจริง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C6B7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เจ้าหน้าที่แก้ได้อิสระ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863840" y="4206240"/>
            <a:ext cx="3749040" cy="868680"/>
          </a:xfrm>
          <a:prstGeom prst="roundRect">
            <a:avLst>
              <a:gd name="adj" fmla="val 9474"/>
            </a:avLst>
          </a:prstGeom>
          <a:solidFill>
            <a:srgbClr val="15B097"/>
          </a:solidFill>
          <a:ln w="12700">
            <a:solidFill>
              <a:srgbClr val="15B097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4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936992" y="4206240"/>
            <a:ext cx="36027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เท่ากัน = AI ทายถูก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C6B7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นับรวม = ความแม่นยำ %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017520" y="4636008"/>
            <a:ext cx="1143000" cy="0"/>
          </a:xfrm>
          <a:prstGeom prst="line">
            <a:avLst/>
          </a:prstGeom>
          <a:noFill/>
          <a:ln w="16510">
            <a:solidFill>
              <a:srgbClr val="5C6B7A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6675120" y="4636008"/>
            <a:ext cx="1143000" cy="0"/>
          </a:xfrm>
          <a:prstGeom prst="line">
            <a:avLst/>
          </a:prstGeom>
          <a:noFill/>
          <a:ln w="19050">
            <a:solidFill>
              <a:srgbClr val="15B097"/>
            </a:solidFill>
            <a:prstDash val="solid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548640" y="56235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C6B7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ฟังก์ชัน research_metrics() คำนวณให้ในคำสั่งเดียว: ความแม่นยำจัดหมวด · ประเมินความด่วน · เวลาเฉลี่ยที่ใช้แจ้ง · คะแนนความพึงพอใจ — แสดงหัวหน้าสรุปข้อมูล พร้อมป้ายผ่าน/ไม่ผ่าน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SECURITY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21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ใครทำอะไรได้ — บังคับที่ชั้นฐานข้อมูล ไม่ใช่แค่ซ่อนปุ่ม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931920" cy="475488"/>
          </a:xfrm>
          <a:prstGeom prst="rect">
            <a:avLst/>
          </a:prstGeom>
          <a:solidFill>
            <a:srgbClr val="0F2A43"/>
          </a:solidFill>
          <a:ln w="9525">
            <a:solidFill>
              <a:srgbClr val="D3DE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920240"/>
            <a:ext cx="37124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ทรัพยากร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480560" y="1920240"/>
            <a:ext cx="3474720" cy="475488"/>
          </a:xfrm>
          <a:prstGeom prst="rect">
            <a:avLst/>
          </a:prstGeom>
          <a:solidFill>
            <a:srgbClr val="0F2A43"/>
          </a:solidFill>
          <a:ln w="9525">
            <a:solidFill>
              <a:srgbClr val="D3DE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90288" y="1920240"/>
            <a:ext cx="32552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คนทั่วไป (anon)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955280" y="1920240"/>
            <a:ext cx="3657600" cy="475488"/>
          </a:xfrm>
          <a:prstGeom prst="rect">
            <a:avLst/>
          </a:prstGeom>
          <a:solidFill>
            <a:srgbClr val="0F2A43"/>
          </a:solidFill>
          <a:ln w="9525">
            <a:solidFill>
              <a:srgbClr val="D3DE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65008" y="1920240"/>
            <a:ext cx="34381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เจ้าหน้าที่ (ล็อกอิน)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395728"/>
            <a:ext cx="3931920" cy="475488"/>
          </a:xfrm>
          <a:prstGeom prst="rect">
            <a:avLst/>
          </a:prstGeom>
          <a:solidFill>
            <a:srgbClr val="F7FAFB"/>
          </a:solidFill>
          <a:ln w="9525">
            <a:solidFill>
              <a:srgbClr val="D3DE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2395728"/>
            <a:ext cx="37124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321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reports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480560" y="2395728"/>
            <a:ext cx="3474720" cy="475488"/>
          </a:xfrm>
          <a:prstGeom prst="rect">
            <a:avLst/>
          </a:prstGeom>
          <a:solidFill>
            <a:srgbClr val="F7FAFB"/>
          </a:solidFill>
          <a:ln w="9525">
            <a:solidFill>
              <a:srgbClr val="D3DE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90288" y="2395728"/>
            <a:ext cx="32552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เพิ่มได้เท่านั้น · บังคับ pending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955280" y="2395728"/>
            <a:ext cx="3657600" cy="475488"/>
          </a:xfrm>
          <a:prstGeom prst="rect">
            <a:avLst/>
          </a:prstGeom>
          <a:solidFill>
            <a:srgbClr val="F7FAFB"/>
          </a:solidFill>
          <a:ln w="9525">
            <a:solidFill>
              <a:srgbClr val="D3DE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65008" y="2395728"/>
            <a:ext cx="34381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อ่าน · แก้สถานะ · มอบหมาย · แก้หมวด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2871216"/>
            <a:ext cx="393192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3DE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2871216"/>
            <a:ext cx="37124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321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buildings / rooms / service_types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480560" y="2871216"/>
            <a:ext cx="347472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3DE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90288" y="2871216"/>
            <a:ext cx="32552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อ่านได้ (ทำ dropdown)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955280" y="2871216"/>
            <a:ext cx="365760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3DEE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65008" y="2871216"/>
            <a:ext cx="34381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อ่าน + จัดการรายการ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8640" y="3346704"/>
            <a:ext cx="3931920" cy="475488"/>
          </a:xfrm>
          <a:prstGeom prst="rect">
            <a:avLst/>
          </a:prstGeom>
          <a:solidFill>
            <a:srgbClr val="F7FAFB"/>
          </a:solidFill>
          <a:ln w="9525">
            <a:solidFill>
              <a:srgbClr val="D3DE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" y="3346704"/>
            <a:ext cx="37124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321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staff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480560" y="3346704"/>
            <a:ext cx="3474720" cy="475488"/>
          </a:xfrm>
          <a:prstGeom prst="rect">
            <a:avLst/>
          </a:prstGeom>
          <a:solidFill>
            <a:srgbClr val="F7FAFB"/>
          </a:solidFill>
          <a:ln w="9525">
            <a:solidFill>
              <a:srgbClr val="D3DE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90288" y="3346704"/>
            <a:ext cx="32552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เข้าไม่ถึงเลย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955280" y="3346704"/>
            <a:ext cx="3657600" cy="475488"/>
          </a:xfrm>
          <a:prstGeom prst="rect">
            <a:avLst/>
          </a:prstGeom>
          <a:solidFill>
            <a:srgbClr val="F7FAFB"/>
          </a:solidFill>
          <a:ln w="9525">
            <a:solidFill>
              <a:srgbClr val="D3DEE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65008" y="3346704"/>
            <a:ext cx="34381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อ่านรายชื่อเพื่อมอบหมาย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3822192"/>
            <a:ext cx="393192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3DE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8368" y="3822192"/>
            <a:ext cx="37124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321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report_status_history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480560" y="3822192"/>
            <a:ext cx="347472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3DEE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90288" y="3822192"/>
            <a:ext cx="32552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เข้าไม่ถึงเลย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7955280" y="3822192"/>
            <a:ext cx="365760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3DEE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65008" y="3822192"/>
            <a:ext cx="34381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อ่าน (เขียนได้เฉพาะ trigger)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4297680"/>
            <a:ext cx="3931920" cy="475488"/>
          </a:xfrm>
          <a:prstGeom prst="rect">
            <a:avLst/>
          </a:prstGeom>
          <a:solidFill>
            <a:srgbClr val="F7FAFB"/>
          </a:solidFill>
          <a:ln w="9525">
            <a:solidFill>
              <a:srgbClr val="D3DEE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8368" y="4297680"/>
            <a:ext cx="37124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321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รูปถ่าย (Storage)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480560" y="4297680"/>
            <a:ext cx="3474720" cy="475488"/>
          </a:xfrm>
          <a:prstGeom prst="rect">
            <a:avLst/>
          </a:prstGeom>
          <a:solidFill>
            <a:srgbClr val="F7FAFB"/>
          </a:solidFill>
          <a:ln w="9525">
            <a:solidFill>
              <a:srgbClr val="D3DEE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90288" y="4297680"/>
            <a:ext cx="32552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อัปโหลดได้ · ดูของคนอื่นไม่ได้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7955280" y="4297680"/>
            <a:ext cx="3657600" cy="475488"/>
          </a:xfrm>
          <a:prstGeom prst="rect">
            <a:avLst/>
          </a:prstGeom>
          <a:solidFill>
            <a:srgbClr val="F7FAFB"/>
          </a:solidFill>
          <a:ln w="9525">
            <a:solidFill>
              <a:srgbClr val="D3DEE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065008" y="4297680"/>
            <a:ext cx="34381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ดูผ่าน signed URL อายุ 1 ชม.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548640" y="4773168"/>
            <a:ext cx="393192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3DEE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58368" y="4773168"/>
            <a:ext cx="37124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321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ติดตามสถานะ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4480560" y="4773168"/>
            <a:ext cx="347472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3DEE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90288" y="4773168"/>
            <a:ext cx="32552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เฉพาะใบที่ถือรหัส 6 หลัก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7955280" y="4773168"/>
            <a:ext cx="365760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3DEE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065008" y="4773168"/>
            <a:ext cx="34381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เห็นทั้งหมดในแดชบอร์ด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548640" y="5394960"/>
            <a:ext cx="11064240" cy="1051560"/>
          </a:xfrm>
          <a:prstGeom prst="roundRect">
            <a:avLst>
              <a:gd name="adj" fmla="val 7826"/>
            </a:avLst>
          </a:prstGeom>
          <a:solidFill>
            <a:srgbClr val="FBF3E7"/>
          </a:solidFill>
          <a:ln w="12700">
            <a:solidFill>
              <a:srgbClr val="C6751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77240" y="5394960"/>
            <a:ext cx="10607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C6751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บทเรียนจากการทดสอบจริง:  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321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นโยบายรุ่นแรกเช็คสิทธิ์โดย query ตาราง staff ตรง ๆ เกิด infinite recursion อ่านข้อมูลไม่ได้ทั้งระบบ — แก้ด้วยฟังก์ชัน is_staff() แบบ SECURITY DEFINER พบจากการยิงทดสอบของจริง ไม่ใช่จากการอ่านโค้ด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SERVICE LEVEL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21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SLA — งานไม่ด่วนเท่ากัน เส้นตายจึงไม่ควรเท่ากัน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214884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1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วิกฤต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103120" y="2148840"/>
            <a:ext cx="1371600" cy="566928"/>
          </a:xfrm>
          <a:prstGeom prst="roundRect">
            <a:avLst>
              <a:gd name="adj" fmla="val 9677"/>
            </a:avLst>
          </a:prstGeom>
          <a:solidFill>
            <a:srgbClr val="15B097"/>
          </a:solidFill>
          <a:ln/>
        </p:spPr>
      </p:sp>
      <p:sp>
        <p:nvSpPr>
          <p:cNvPr id="6" name="Shape 4"/>
          <p:cNvSpPr/>
          <p:nvPr/>
        </p:nvSpPr>
        <p:spPr>
          <a:xfrm>
            <a:off x="3474720" y="2148840"/>
            <a:ext cx="502920" cy="566928"/>
          </a:xfrm>
          <a:prstGeom prst="roundRect">
            <a:avLst>
              <a:gd name="adj" fmla="val 10909"/>
            </a:avLst>
          </a:prstGeom>
          <a:solidFill>
            <a:srgbClr val="C67512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0" y="214884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1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 ชม.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3099816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1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ด่วน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103120" y="3099816"/>
            <a:ext cx="2926080" cy="566928"/>
          </a:xfrm>
          <a:prstGeom prst="roundRect">
            <a:avLst>
              <a:gd name="adj" fmla="val 9677"/>
            </a:avLst>
          </a:prstGeom>
          <a:solidFill>
            <a:srgbClr val="15B097"/>
          </a:solidFill>
          <a:ln/>
        </p:spPr>
      </p:sp>
      <p:sp>
        <p:nvSpPr>
          <p:cNvPr id="10" name="Shape 8"/>
          <p:cNvSpPr/>
          <p:nvPr/>
        </p:nvSpPr>
        <p:spPr>
          <a:xfrm>
            <a:off x="5029200" y="3099816"/>
            <a:ext cx="502920" cy="566928"/>
          </a:xfrm>
          <a:prstGeom prst="roundRect">
            <a:avLst>
              <a:gd name="adj" fmla="val 10909"/>
            </a:avLst>
          </a:prstGeom>
          <a:solidFill>
            <a:srgbClr val="C67512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0" y="3099816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1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24 ชม.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48640" y="4050792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1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ปานกลาง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103120" y="4050792"/>
            <a:ext cx="5943600" cy="566928"/>
          </a:xfrm>
          <a:prstGeom prst="roundRect">
            <a:avLst>
              <a:gd name="adj" fmla="val 9677"/>
            </a:avLst>
          </a:prstGeom>
          <a:solidFill>
            <a:srgbClr val="15B097"/>
          </a:solidFill>
          <a:ln/>
        </p:spPr>
      </p:sp>
      <p:sp>
        <p:nvSpPr>
          <p:cNvPr id="14" name="Shape 12"/>
          <p:cNvSpPr/>
          <p:nvPr/>
        </p:nvSpPr>
        <p:spPr>
          <a:xfrm>
            <a:off x="8046720" y="4050792"/>
            <a:ext cx="502920" cy="566928"/>
          </a:xfrm>
          <a:prstGeom prst="roundRect">
            <a:avLst>
              <a:gd name="adj" fmla="val 10909"/>
            </a:avLst>
          </a:prstGeom>
          <a:solidFill>
            <a:srgbClr val="C67512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0" y="4050792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1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 วัน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" y="5001768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1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ไม่เร่งด่วน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103120" y="5001768"/>
            <a:ext cx="9509760" cy="566928"/>
          </a:xfrm>
          <a:prstGeom prst="roundRect">
            <a:avLst>
              <a:gd name="adj" fmla="val 9677"/>
            </a:avLst>
          </a:prstGeom>
          <a:solidFill>
            <a:srgbClr val="15B097"/>
          </a:solidFill>
          <a:ln/>
        </p:spPr>
      </p:sp>
      <p:sp>
        <p:nvSpPr>
          <p:cNvPr id="18" name="Shape 16"/>
          <p:cNvSpPr/>
          <p:nvPr/>
        </p:nvSpPr>
        <p:spPr>
          <a:xfrm>
            <a:off x="11612880" y="5001768"/>
            <a:ext cx="502920" cy="566928"/>
          </a:xfrm>
          <a:prstGeom prst="roundRect">
            <a:avLst>
              <a:gd name="adj" fmla="val 10909"/>
            </a:avLst>
          </a:prstGeom>
          <a:solidFill>
            <a:srgbClr val="C67512"/>
          </a:solidFill>
          <a:ln/>
        </p:spPr>
      </p:sp>
      <p:sp>
        <p:nvSpPr>
          <p:cNvPr id="19" name="Text 17"/>
          <p:cNvSpPr/>
          <p:nvPr/>
        </p:nvSpPr>
        <p:spPr>
          <a:xfrm>
            <a:off x="12252960" y="5001768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1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7 วัน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48640" y="58064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6751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โซนส้ม = เหลือเวลาไม่ถึง 25% → การ์ดขึ้นป้ายเตือนอัตโนมัติ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48640" y="6172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034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เกินเส้นตาย → ป้ายแดง "เกิน SLA" + นับเข้าตัวเลข KPI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48640" y="651052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6B7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อ้างอิงแนวปฏิบัติ ITIL 4 · งานที่ปิดแล้ววัดจาก resolved_at เทียบเส้นตาย ได้ตัวเลข % ทันกำหนดที่หน้าสรุป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REALTIME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21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ทำไมทุกจอเปลี่ยนพร้อมกันได้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394960" cy="3291840"/>
          </a:xfrm>
          <a:prstGeom prst="roundRect">
            <a:avLst>
              <a:gd name="adj" fmla="val 2500"/>
            </a:avLst>
          </a:prstGeom>
          <a:solidFill>
            <a:srgbClr val="F1F6F8"/>
          </a:solidFill>
          <a:ln w="12700">
            <a:solidFill>
              <a:srgbClr val="D3DE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4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194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กลไก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743200"/>
            <a:ext cx="4846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321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ตาราง reports อยู่ใน publication ของ Realtime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321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แดชบอร์ดสมัครฟัง INSERT และ UPDATE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321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มีใบใหม่ → การ์ดแทรกขึ้นหัว + toast เตือน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321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สถานะเปลี่ยน → การ์ดใบนั้นอัปเดตในที่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321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ออกจากหน้า → ยกเลิกการฟัง ไม่ค้าง memory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17920" y="1965960"/>
            <a:ext cx="5394960" cy="3291840"/>
          </a:xfrm>
          <a:prstGeom prst="roundRect">
            <a:avLst>
              <a:gd name="adj" fmla="val 2500"/>
            </a:avLst>
          </a:prstGeom>
          <a:solidFill>
            <a:srgbClr val="F1F6F8"/>
          </a:solidFill>
          <a:ln w="12700">
            <a:solidFill>
              <a:srgbClr val="D3DE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4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92240" y="2194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B09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Optimistic update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92240" y="2743200"/>
            <a:ext cx="4846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250" dirty="0">
                <a:solidFill>
                  <a:srgbClr val="5C6B7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กดปุ่มแล้ว UI เปลี่ยนทันทีก่อนเซิร์ฟเวอร์ตอบ ช่างไม่ต้องรอ ถ้าเซิร์ฟเวอร์ปฏิเสธ สถานะดึงกลับเป็นค่าเดิม และ Realtime เป็นตัวตัดสินสุดท้าย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321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ผลที่ผู้ใช้รู้สึก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เจ้าหน้าที่ 5 คนเปิดพร้อมกัน คนหนึ่งกดปิดงาน อีก 4 จอเห็นทันทีโดยไม่ต้องรีเฟรช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55778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C6B7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ข้อจำกัดที่ควรรู้: Realtime เป็นการแจ้งเหตุการณ์ ไม่ใช่แหล่งความจริง — หน้าเว็บยังโหลดข้อมูลตั้งต้นจากฐานข้อมูลทุกครั้ง ถ้าเน็ตหลุดแล้วต่อกลับ การรีเฟรชยังให้ภาพที่ถูกต้อง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TECHNOLOGY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21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เครื่องมือที่ใช้ และเหตุผลที่เลือก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657600" cy="1828800"/>
          </a:xfrm>
          <a:prstGeom prst="roundRect">
            <a:avLst>
              <a:gd name="adj" fmla="val 4500"/>
            </a:avLst>
          </a:prstGeom>
          <a:solidFill>
            <a:srgbClr val="F1F6F8"/>
          </a:solidFill>
          <a:ln w="12700">
            <a:solidFill>
              <a:srgbClr val="D3DE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4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14884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E7C86"/>
          </a:solidFill>
          <a:ln/>
        </p:spPr>
      </p:sp>
      <p:sp>
        <p:nvSpPr>
          <p:cNvPr id="6" name="Text 4"/>
          <p:cNvSpPr/>
          <p:nvPr/>
        </p:nvSpPr>
        <p:spPr>
          <a:xfrm>
            <a:off x="1298448" y="2121408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1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Next.js 16 (App Router)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283464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หน้าเว็บและ API อยู่โปรเจกต์เดียว Server Actions ทำให้ฟอร์มส่งตรงถึงเซิร์ฟเวอร์ คีย์อยู่ฝั่งเซิร์ฟเวอร์โดยธรรมชาติ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407408" y="1920240"/>
            <a:ext cx="3657600" cy="1828800"/>
          </a:xfrm>
          <a:prstGeom prst="roundRect">
            <a:avLst>
              <a:gd name="adj" fmla="val 4500"/>
            </a:avLst>
          </a:prstGeom>
          <a:solidFill>
            <a:srgbClr val="F1F6F8"/>
          </a:solidFill>
          <a:ln w="12700">
            <a:solidFill>
              <a:srgbClr val="D3DE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4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36008" y="214884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15B097"/>
          </a:solidFill>
          <a:ln/>
        </p:spPr>
      </p:sp>
      <p:sp>
        <p:nvSpPr>
          <p:cNvPr id="10" name="Text 8"/>
          <p:cNvSpPr/>
          <p:nvPr/>
        </p:nvSpPr>
        <p:spPr>
          <a:xfrm>
            <a:off x="5157216" y="2121408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1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Supabase (PostgreSQL)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636008" y="283464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ฐานข้อมูล + ล็อกอิน + ที่เก็บไฟล์ + Realtime ในบริการเดียว และได้ RLS ที่บังคับสิทธิ์ที่ชั้นข้อมูลจริง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266176" y="1920240"/>
            <a:ext cx="3657600" cy="1828800"/>
          </a:xfrm>
          <a:prstGeom prst="roundRect">
            <a:avLst>
              <a:gd name="adj" fmla="val 4500"/>
            </a:avLst>
          </a:prstGeom>
          <a:solidFill>
            <a:srgbClr val="F1F6F8"/>
          </a:solidFill>
          <a:ln w="12700">
            <a:solidFill>
              <a:srgbClr val="D3DE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4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494776" y="214884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C67512"/>
          </a:solidFill>
          <a:ln/>
        </p:spPr>
      </p:sp>
      <p:sp>
        <p:nvSpPr>
          <p:cNvPr id="14" name="Text 12"/>
          <p:cNvSpPr/>
          <p:nvPr/>
        </p:nvSpPr>
        <p:spPr>
          <a:xfrm>
            <a:off x="9015984" y="2121408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1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Vision LLM + Structured Output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494776" y="283464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บังคับรูปแบบคำตอบแทนการแกะข้อความ ลดความเปราะของ prompt ตรวจสอบค่าได้ทันที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977640"/>
            <a:ext cx="3657600" cy="1828800"/>
          </a:xfrm>
          <a:prstGeom prst="roundRect">
            <a:avLst>
              <a:gd name="adj" fmla="val 4500"/>
            </a:avLst>
          </a:prstGeom>
          <a:solidFill>
            <a:srgbClr val="F1F6F8"/>
          </a:solidFill>
          <a:ln w="12700">
            <a:solidFill>
              <a:srgbClr val="D3DE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4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77240" y="420624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F2A43"/>
          </a:solidFill>
          <a:ln/>
        </p:spPr>
      </p:sp>
      <p:sp>
        <p:nvSpPr>
          <p:cNvPr id="18" name="Text 16"/>
          <p:cNvSpPr/>
          <p:nvPr/>
        </p:nvSpPr>
        <p:spPr>
          <a:xfrm>
            <a:off x="1298448" y="4178808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1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Tailwind + shadcn/ui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77240" y="489204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คอมโพเนนต์มาตรฐานเดียวกันทั้งแอป รองรับคีย์บอร์ดและ screen reader หน้าตาสม่ำเสมอ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407408" y="3977640"/>
            <a:ext cx="3657600" cy="1828800"/>
          </a:xfrm>
          <a:prstGeom prst="roundRect">
            <a:avLst>
              <a:gd name="adj" fmla="val 4500"/>
            </a:avLst>
          </a:prstGeom>
          <a:solidFill>
            <a:srgbClr val="F1F6F8"/>
          </a:solidFill>
          <a:ln w="12700">
            <a:solidFill>
              <a:srgbClr val="D3DE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4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36008" y="420624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E7C86"/>
          </a:solidFill>
          <a:ln/>
        </p:spPr>
      </p:sp>
      <p:sp>
        <p:nvSpPr>
          <p:cNvPr id="22" name="Text 20"/>
          <p:cNvSpPr/>
          <p:nvPr/>
        </p:nvSpPr>
        <p:spPr>
          <a:xfrm>
            <a:off x="5157216" y="4178808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1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Vercel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636008" y="489204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push ขึ้น main แล้ว deploy อัตโนมัติ ใช้ฟรีในระดับโครงงาน รองรับ Server Actions โดยตรง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266176" y="3977640"/>
            <a:ext cx="3657600" cy="1828800"/>
          </a:xfrm>
          <a:prstGeom prst="roundRect">
            <a:avLst>
              <a:gd name="adj" fmla="val 4500"/>
            </a:avLst>
          </a:prstGeom>
          <a:solidFill>
            <a:srgbClr val="F1F6F8"/>
          </a:solidFill>
          <a:ln w="12700">
            <a:solidFill>
              <a:srgbClr val="D3DE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4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494776" y="420624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15B097"/>
          </a:solidFill>
          <a:ln/>
        </p:spPr>
      </p:sp>
      <p:sp>
        <p:nvSpPr>
          <p:cNvPr id="26" name="Text 24"/>
          <p:cNvSpPr/>
          <p:nvPr/>
        </p:nvSpPr>
        <p:spPr>
          <a:xfrm>
            <a:off x="9015984" y="4178808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1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IBM Plex Sans Thai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494776" y="489204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ฟอนต์ไทยอ่านชัด มี fallback ถึงฟอนต์ระบบ Windows/macOS/Android ไม่มีอักษรกล่อง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5B09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SUMMARY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89611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สามการตัดสินใจที่ทำให้ระบบนี้ต่างจากงานทั่วไป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3611880" cy="3200400"/>
          </a:xfrm>
          <a:prstGeom prst="roundRect">
            <a:avLst>
              <a:gd name="adj" fmla="val 2857"/>
            </a:avLst>
          </a:prstGeom>
          <a:solidFill>
            <a:srgbClr val="16354C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0" y="210312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15B097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2A4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97280" y="288036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ระบบต้องรับแจ้งได้เสมอ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97280" y="361188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B9CCD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AI เป็นตัวช่วย ไม่ใช่เงื่อนไข ถ้า AI ล่ม หมด quota หรือไม่มีคีย์ ใบแจ้งซ่อมยังเข้าระบบครบ เพราะผู้ใช้ต้องการให้ช่างมาซ่อม ไม่ใช่ให้ AI ทำงาน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617720" y="1828800"/>
            <a:ext cx="3611880" cy="3200400"/>
          </a:xfrm>
          <a:prstGeom prst="roundRect">
            <a:avLst>
              <a:gd name="adj" fmla="val 2857"/>
            </a:avLst>
          </a:prstGeom>
          <a:solidFill>
            <a:srgbClr val="16354C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92040" y="210312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15B097"/>
          </a:solidFill>
          <a:ln/>
        </p:spPr>
      </p:sp>
      <p:sp>
        <p:nvSpPr>
          <p:cNvPr id="11" name="Text 9"/>
          <p:cNvSpPr/>
          <p:nvPr/>
        </p:nvSpPr>
        <p:spPr>
          <a:xfrm>
            <a:off x="489204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2A4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92040" y="288036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เก็บข้อมูลที่ย้อนกลับไปเก็บไม่ได้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892040" y="361188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B9CCD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คำทายเดิมของ AI · เวลาที่ใช้กรอกฟอร์ม · คะแนนความพึงพอใจ ถ้าไม่เก็บตอนนั้นก็หายตลอดไป และเป็นตัวชี้วัดทั้งหมดของงานวิจัย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412480" y="1828800"/>
            <a:ext cx="3611880" cy="3200400"/>
          </a:xfrm>
          <a:prstGeom prst="roundRect">
            <a:avLst>
              <a:gd name="adj" fmla="val 2857"/>
            </a:avLst>
          </a:prstGeom>
          <a:solidFill>
            <a:srgbClr val="16354C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86800" y="210312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15B097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2A4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686800" y="288036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สิทธิ์บังคับที่ฐานข้อมูล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686800" y="361188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B9CCD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คนทั่วไปแจ้งซ่อมได้แต่อ่านข้อมูลคนอื่นไม่ได้ บังคับด้วย RLS ไม่ใช่ด้วยการซ่อนปุ่ม ทดสอบแล้วด้วยการยิง API ตรง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22960" y="5349240"/>
            <a:ext cx="10515600" cy="1051560"/>
          </a:xfrm>
          <a:prstGeom prst="roundRect">
            <a:avLst>
              <a:gd name="adj" fmla="val 6957"/>
            </a:avLst>
          </a:prstGeom>
          <a:solidFill>
            <a:srgbClr val="16354C"/>
          </a:solidFill>
          <a:ln/>
        </p:spPr>
      </p:sp>
      <p:sp>
        <p:nvSpPr>
          <p:cNvPr id="20" name="Text 18"/>
          <p:cNvSpPr/>
          <p:nvPr/>
        </p:nvSpPr>
        <p:spPr>
          <a:xfrm>
            <a:off x="1097280" y="5349240"/>
            <a:ext cx="9966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5B09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ต่อยอดได้ต่อจากนี้:  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9D8E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แจ้งเตือนกลับผู้แจ้งผ่าน LINE/อีเมล · QR ประจำห้องเพื่อลดเหลือขั้นตอนเดียว · รูปหลังซ่อมเป็นหลักฐาน · ทะเบียนครุภัณฑ์เพื่อตอบว่าอุปกรณ์ไหนควรเปลี่ยนแทนซ่อม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ระบบบริหารการซ่อมบำรุงด้วย AI</dc:title>
  <dc:subject>PptxGenJS Presentation</dc:subject>
  <dc:creator>AI-Tool-Fix</dc:creator>
  <cp:lastModifiedBy>AI-Tool-Fix</cp:lastModifiedBy>
  <cp:revision>1</cp:revision>
  <dcterms:created xsi:type="dcterms:W3CDTF">2026-08-19T09:44:47Z</dcterms:created>
  <dcterms:modified xsi:type="dcterms:W3CDTF">2026-08-19T09:44:47Z</dcterms:modified>
</cp:coreProperties>
</file>